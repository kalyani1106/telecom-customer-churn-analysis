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1682D1-EC36-4C04-B4D1-E683699D6170}">
          <p14:sldIdLst>
            <p14:sldId id="256"/>
            <p14:sldId id="257"/>
            <p14:sldId id="259"/>
            <p14:sldId id="260"/>
            <p14:sldId id="261"/>
          </p14:sldIdLst>
        </p14:section>
        <p14:section name="Untitled Section" id="{6B9CC891-DD23-477B-91E8-410B83B35B69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8465-8769-8760-8D1E-B2A43F229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222072"/>
          </a:xfrm>
        </p:spPr>
        <p:txBody>
          <a:bodyPr/>
          <a:lstStyle/>
          <a:p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Telecom Customer Churn Analysis using Python, SQL &amp;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EF80D-9A67-80A3-658B-BCABED8DD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315326"/>
            <a:ext cx="6831673" cy="117107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Prepared By</a:t>
            </a:r>
          </a:p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Rowthu Kalyani</a:t>
            </a:r>
          </a:p>
        </p:txBody>
      </p:sp>
    </p:spTree>
    <p:extLst>
      <p:ext uri="{BB962C8B-B14F-4D97-AF65-F5344CB8AC3E}">
        <p14:creationId xmlns:p14="http://schemas.microsoft.com/office/powerpoint/2010/main" val="171942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4859-DFC2-28C4-EC39-6232D47C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600"/>
            <a:ext cx="9601200" cy="822158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7782-3E58-A31A-D958-331ACE47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Telecom companies experience customer churn, leading to revenue loss.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customer churn. 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Identify key churn factors. 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Build a predictive model. 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Provide business recommendations.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78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D13C-C9F0-43CF-2AC2-1E4991C23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74558"/>
            <a:ext cx="9601200" cy="70986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2AA4-7B03-6EA5-2DF5-7E7697E6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32810"/>
            <a:ext cx="9601200" cy="405063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IBM Telco Customer Churn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7032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21 Features Target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Variable: Churn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important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Contract 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Service Payment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Method Monthly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Charges Tenure</a:t>
            </a:r>
          </a:p>
        </p:txBody>
      </p:sp>
    </p:spTree>
    <p:extLst>
      <p:ext uri="{BB962C8B-B14F-4D97-AF65-F5344CB8AC3E}">
        <p14:creationId xmlns:p14="http://schemas.microsoft.com/office/powerpoint/2010/main" val="184258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D231-EF90-68A2-78C4-26AAB791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989"/>
            <a:ext cx="9601200" cy="72590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CCDE5-B773-654E-FE7E-E087C8EE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1705"/>
            <a:ext cx="9601200" cy="50693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SQL Analysis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1921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32CF-43B8-E965-EB1A-F4F10EB9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84492"/>
            <a:ext cx="9601200" cy="693821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EDA Insights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A9B7C74-E4DA-C232-AB7C-5BB222F50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862" y="1006642"/>
            <a:ext cx="3924393" cy="24704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C61070-90AB-4C7F-D04B-0BFB741F9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504" y="1030705"/>
            <a:ext cx="3924393" cy="24223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761B2A-A033-3856-FB77-76FFC99C5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862" y="3773905"/>
            <a:ext cx="3924393" cy="24704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6753F9-FE83-34C5-84B3-1459F6831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504" y="3773905"/>
            <a:ext cx="3924393" cy="239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1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5F50-3842-64AB-D6E3-F98D16EA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9327"/>
            <a:ext cx="9601200" cy="713509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5B0B-D604-6049-9E17-BE9E96BF9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63781"/>
            <a:ext cx="9601200" cy="5534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Contract , COUNT(*) AS </a:t>
            </a:r>
            <a:r>
              <a:rPr lang="en-US" dirty="0" err="1"/>
              <a:t>Total_Customers,SUM</a:t>
            </a:r>
            <a:r>
              <a:rPr lang="en-US" dirty="0"/>
              <a:t>(CASE WHEN Churn='Yes' THEN 1 ELSE 0 END) AS Churned , ROUND(SUM(CASEWHEN Churn='Yes' THEN 1 ELSE 0 END)*100.0/COUNT(*),2) AS </a:t>
            </a:r>
            <a:r>
              <a:rPr lang="en-US" dirty="0" err="1"/>
              <a:t>Churn_Rate</a:t>
            </a:r>
            <a:r>
              <a:rPr lang="en-US" dirty="0"/>
              <a:t> FROM </a:t>
            </a:r>
            <a:r>
              <a:rPr lang="en-US" dirty="0" err="1"/>
              <a:t>telecom_churn</a:t>
            </a:r>
            <a:r>
              <a:rPr lang="en-US" dirty="0"/>
              <a:t> GROUP BY Contract ORDER BY </a:t>
            </a:r>
            <a:r>
              <a:rPr lang="en-US" dirty="0" err="1"/>
              <a:t>Churn_Rate</a:t>
            </a:r>
            <a:r>
              <a:rPr lang="en-US" dirty="0"/>
              <a:t> DESC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PaymentMethod,COUNT</a:t>
            </a:r>
            <a:r>
              <a:rPr lang="en-US" dirty="0"/>
              <a:t>(*) AS </a:t>
            </a:r>
            <a:r>
              <a:rPr lang="en-US" dirty="0" err="1"/>
              <a:t>Churn_Count</a:t>
            </a:r>
            <a:r>
              <a:rPr lang="en-US" dirty="0"/>
              <a:t> FROM </a:t>
            </a:r>
            <a:r>
              <a:rPr lang="en-US" dirty="0" err="1"/>
              <a:t>telecom_churn</a:t>
            </a:r>
            <a:r>
              <a:rPr lang="en-US" dirty="0"/>
              <a:t> WHERE Churn='Yes’ GROUP BY </a:t>
            </a:r>
            <a:r>
              <a:rPr lang="en-US" dirty="0" err="1"/>
              <a:t>PaymentMethod</a:t>
            </a:r>
            <a:r>
              <a:rPr lang="en-US" dirty="0"/>
              <a:t> ORDER BY </a:t>
            </a:r>
            <a:r>
              <a:rPr lang="en-US" dirty="0" err="1"/>
              <a:t>Churn_Count</a:t>
            </a:r>
            <a:r>
              <a:rPr lang="en-US" dirty="0"/>
              <a:t> DESC;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3C47F-999C-47B3-868B-287B7F984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04" y="2410691"/>
            <a:ext cx="9338796" cy="1634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C6E65D-94D9-B53B-1B13-C90995B7D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04" y="4959927"/>
            <a:ext cx="9338796" cy="14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8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BE1E-089F-ACA0-0B60-C1C9E261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0491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A587-3A31-E26F-1983-2AFF954F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0255"/>
            <a:ext cx="9601200" cy="417714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Models Used:</a:t>
            </a:r>
          </a:p>
          <a:p>
            <a:pPr marL="457200" indent="-457200">
              <a:buFont typeface="+mj-lt"/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Logistic Regression </a:t>
            </a:r>
          </a:p>
          <a:p>
            <a:pPr marL="457200" indent="-457200">
              <a:buFont typeface="+mj-lt"/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Decision Tree </a:t>
            </a:r>
          </a:p>
          <a:p>
            <a:pPr marL="457200" indent="-457200">
              <a:buFont typeface="+mj-lt"/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40C9B4-A01C-E3B5-31C1-54A477691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41638"/>
              </p:ext>
            </p:extLst>
          </p:nvPr>
        </p:nvGraphicFramePr>
        <p:xfrm>
          <a:off x="1524000" y="4176453"/>
          <a:ext cx="9601200" cy="149352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672621766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502279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33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78.75%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25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78.54%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37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72.49%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0488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EF851C-DF7D-B53A-E0C4-25F8DC97D7BC}"/>
              </a:ext>
            </a:extLst>
          </p:cNvPr>
          <p:cNvSpPr txBox="1"/>
          <p:nvPr/>
        </p:nvSpPr>
        <p:spPr>
          <a:xfrm>
            <a:off x="1524000" y="35792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</p:txBody>
      </p:sp>
    </p:spTree>
    <p:extLst>
      <p:ext uri="{BB962C8B-B14F-4D97-AF65-F5344CB8AC3E}">
        <p14:creationId xmlns:p14="http://schemas.microsoft.com/office/powerpoint/2010/main" val="215679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2B98-83CB-85D2-6347-CD8368E0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0895"/>
            <a:ext cx="9601200" cy="64970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SHAP Explainability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2C3FDD-6F65-6BBA-3DE4-3F52DC28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166" y="1147010"/>
            <a:ext cx="4168501" cy="5121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D98AAA-2B6F-8ECC-07A6-57A16D22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61" y="1147010"/>
            <a:ext cx="4168501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7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E6CE-7B35-8C63-BB6A-DC511085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705"/>
            <a:ext cx="9601200" cy="72189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BE19D-A307-5A33-B046-6DD2FA132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632" y="1155032"/>
            <a:ext cx="10106525" cy="53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64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0F08-7171-E1E8-23A1-0F681AB2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07168"/>
            <a:ext cx="9601200" cy="733926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47454-E76C-5564-4E06-B18CCB13F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66474"/>
            <a:ext cx="9601200" cy="318435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Encourage long-term contracts.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Improve Fiber Optic service.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Promote automatic payments.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Reduce pricing for high-value customers.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Target new customers with retention campaigns.</a:t>
            </a:r>
          </a:p>
        </p:txBody>
      </p:sp>
    </p:spTree>
    <p:extLst>
      <p:ext uri="{BB962C8B-B14F-4D97-AF65-F5344CB8AC3E}">
        <p14:creationId xmlns:p14="http://schemas.microsoft.com/office/powerpoint/2010/main" val="3133998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AF76-91BA-F2F0-EA8F-B23E679D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189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1D0F2-4CCA-293C-D9E6-009FBB15F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64105"/>
            <a:ext cx="9601200" cy="1864895"/>
          </a:xfrm>
        </p:spPr>
        <p:txBody>
          <a:bodyPr>
            <a:normAutofit fontScale="92500"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project successfully identified the primary drivers of customer churn using Python, SQL, Machine Learning, SHAP, and Power BI. Logistic Regression achieved the best performance (78.75% accuracy), while the dashboard provides business users with an interactive tool for monitoring churn and supporting customer retention strategies.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8FFEB5-34E4-FCB9-DD11-D0EC168979CC}"/>
              </a:ext>
            </a:extLst>
          </p:cNvPr>
          <p:cNvSpPr txBox="1">
            <a:spLocks/>
          </p:cNvSpPr>
          <p:nvPr/>
        </p:nvSpPr>
        <p:spPr>
          <a:xfrm>
            <a:off x="1596189" y="4584032"/>
            <a:ext cx="9601200" cy="721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578710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{4F675015-724E-4897-91BB-D7A0DD578250}TFc3084226-2d0c-440f-9f46-6b48c7a7f670e6ba4a85-fc4a2881d6b3</Template>
  <TotalTime>186</TotalTime>
  <Words>329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Franklin Gothic Book</vt:lpstr>
      <vt:lpstr>Wingdings</vt:lpstr>
      <vt:lpstr>Crop</vt:lpstr>
      <vt:lpstr>Telecom Customer Churn Analysis using Python, SQL &amp; Power BI</vt:lpstr>
      <vt:lpstr>Problem Statement</vt:lpstr>
      <vt:lpstr>Dataset</vt:lpstr>
      <vt:lpstr>Project Workflow</vt:lpstr>
      <vt:lpstr>EDA Insights</vt:lpstr>
      <vt:lpstr>SQL Analysis</vt:lpstr>
      <vt:lpstr>Machine Learning</vt:lpstr>
      <vt:lpstr>SHAP Explainability</vt:lpstr>
      <vt:lpstr>Power BI Dashboard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Rowthu Kalyani</dc:creator>
  <cp:lastModifiedBy>Rowthu Kalyani</cp:lastModifiedBy>
  <cp:revision>1</cp:revision>
  <dcterms:created xsi:type="dcterms:W3CDTF">2026-06-30T12:44:32Z</dcterms:created>
  <dcterms:modified xsi:type="dcterms:W3CDTF">2026-06-30T15:51:19Z</dcterms:modified>
</cp:coreProperties>
</file>